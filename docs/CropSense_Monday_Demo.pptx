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Opening: CropSense presents three independently trained prototype models in one dashboard. The combined score is a demonstration scenario, not a farm-level validated prediction. Hyperspectral work is excluded from this scope.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models take different inputs and use different datasets. The app displays independent model results and an equal-weight illustrative composite when results are present. Because these data are not linked to a shared farm outcome, we have not measured accuracy for the composite.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adapted MobileNetV2 improved accuracy on the inspected PlantDoc test from 30.95% to 55.95%, 141 out of 252 correct; macro F1 rose from .297 to .552. PlantVillage validation decreased from 98.10% to 96.83%. The PlantDoc test was historically inspected, so it is not a fresh blind replication. Show the class report and confusion matrix in the Kaggle audit. Sources: https://www.kaggle.com/code/kuntalashivasairahul/cropsense-module-1-audit and docs/evidence/module-1-candidate/results_summary.csv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grouped test contained 1,549 tiles from 123 inferred field IDs. The retrained baseline reached 58.42% accuracy and .474 macro F1, while correctly identifying 23 of 280 healthy tiles. It predicted 74 of 700 severe tiles as healthy. A validation-selected threshold candidate increased healthy recall but increased severe-to-healthy errors to 81, so we did not promote it. The historical deployed artifact had 66.75% on a smaller random-tile test and should not be compared as if it were the same split. Ground-truth labels are derived from masks; this remains a prototype. Kaggle: https://www.kaggle.com/code/kuntalashivasairahul/cropsense-module-2-field-splits-rf-and-metrics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required LSTM model predicts 10 of 19 observed target weeks correctly, 52.63%, macro F1 .433. It exceeds persistence at 42.11%, but logistic regression scored 68.42% and macro F1 .676. The test is small and limited to one region. Split by year: train 2005–07, validation 2008, test 2009. Targets are observed values, not interpolated future values. Kaggle: https://www.kaggle.com/code/kuntalashivasairahul/cropsense-module-3-causal-lstm-and-metrics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each module, the notebooks document data provenance, exclusions, split construction, training configuration, environment, per-class precision/recall/F1/support, confusion counts and artifact checks. Selection is performed before the final test where the protocol permits. The composite score has no ground-truth dataset and no accuracy claim. Use the Kaggle notebooks and docs/MODEL_EVALUATION.md for detailed evidence.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the presentation laptop: clone branch codex/monday-demo-ready, run setup_windows.cmd while online, verify reports/environment-windows.json, then disconnect Wi-Fi and run start_windows.cmd. Walk through the four app steps. CI passed on a Windows Server 2025 runner and the Mac mini, but the actual Windows 10 laptop rehearsal remains pending. Checklist: docs/WINDOWS_DEMO.md.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F7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7"/>
          </a:solidFill>
          <a:ln w="12700">
            <a:solidFill>
              <a:srgbClr val="F7FAF7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651052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7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CROPSENSE AI  /  MODEL AUDIT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8549640" y="651052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7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MONDAY DEMONSTRATION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5706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5706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58200" y="-1234440"/>
            <a:ext cx="4754880" cy="4754880"/>
          </a:xfrm>
          <a:prstGeom prst="ellipse">
            <a:avLst/>
          </a:prstGeom>
          <a:solidFill>
            <a:srgbClr val="E3EDE3"/>
          </a:solidFill>
          <a:ln w="12700">
            <a:solidFill>
              <a:srgbClr val="E3EDE3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62179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236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CROPSENSE AI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234440"/>
            <a:ext cx="6583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83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model signals.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rgbClr val="183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honest demo.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768096" y="301752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526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• canopy stress • pest risk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768096" y="3493008"/>
            <a:ext cx="6217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26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Evaluation, limits, and a laptop-ready walkthrough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406640" y="1005840"/>
            <a:ext cx="1755648" cy="117043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9E4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562088" y="11155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36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7562088" y="145389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83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 RGB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562088" y="176479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526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disease classes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9372600" y="1005840"/>
            <a:ext cx="1755648" cy="1170432"/>
          </a:xfrm>
          <a:prstGeom prst="roundRect">
            <a:avLst>
              <a:gd name="adj" fmla="val 12500"/>
            </a:avLst>
          </a:prstGeom>
          <a:solidFill>
            <a:srgbClr val="EAF2EA"/>
          </a:solidFill>
          <a:ln w="12700">
            <a:solidFill>
              <a:srgbClr val="D9E4D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528048" y="11155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36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9528048" y="145389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83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 + NIR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9528048" y="176479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526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NDVI stress classes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406640" y="2468880"/>
            <a:ext cx="1755648" cy="117043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9E4D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562088" y="25786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36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7562088" y="291693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83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4-WEEK SERIES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562088" y="322783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526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Pest-risk classes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516636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83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datasets and models; the combined dashboard score is illustrative.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777240" y="5623560"/>
            <a:ext cx="9144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26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Hyperspectral analysis is outside this demonstration scope.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777240" y="614476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236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MONDAY  •  PROJECT REVIEW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47472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236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MAP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58368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83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inputs stay distinct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621792" y="1243584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526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 brings outputs together for a walkthrough; training data are not a joined farm dataset.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58368" y="1874520"/>
            <a:ext cx="2834640" cy="292608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9E4D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41248" y="207568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36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LEAF HEALTH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2587752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83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 leaf photo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1783080" y="3218688"/>
            <a:ext cx="457200" cy="292608"/>
          </a:xfrm>
          <a:prstGeom prst="chevron">
            <a:avLst/>
          </a:prstGeom>
          <a:solidFill>
            <a:srgbClr val="D6E1D8"/>
          </a:solidFill>
          <a:ln w="12700">
            <a:solidFill>
              <a:srgbClr val="D6E1D8">
                <a:alpha val="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41248" y="3648456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83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83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classes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41248" y="4361688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526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label + Grad-CAM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462272" y="1874520"/>
            <a:ext cx="2834640" cy="292608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9E4D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645152" y="207568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E8B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CANOPY STRESS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645152" y="2587752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83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 + NIR tile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586984" y="3218688"/>
            <a:ext cx="457200" cy="292608"/>
          </a:xfrm>
          <a:prstGeom prst="chevron">
            <a:avLst/>
          </a:prstGeom>
          <a:solidFill>
            <a:srgbClr val="D6E1D8"/>
          </a:solidFill>
          <a:ln w="12700">
            <a:solidFill>
              <a:srgbClr val="D6E1D8">
                <a:alpha val="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645152" y="3648456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83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NDVI features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83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645152" y="4361688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526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/ moderate / severe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266176" y="1874520"/>
            <a:ext cx="2834640" cy="292608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9E4D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449056" y="207568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0A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PEST RISK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8449056" y="2587752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83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weeks of weather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183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prior observations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9390888" y="3218688"/>
            <a:ext cx="457200" cy="292608"/>
          </a:xfrm>
          <a:prstGeom prst="chevron">
            <a:avLst/>
          </a:prstGeom>
          <a:solidFill>
            <a:srgbClr val="D6E1D8"/>
          </a:solidFill>
          <a:ln w="12700">
            <a:solidFill>
              <a:srgbClr val="D6E1D8">
                <a:alpha val="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449056" y="3648456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83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sequence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83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classes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8449056" y="4361688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526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class + probabilities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011680" y="5230368"/>
            <a:ext cx="8183880" cy="768096"/>
          </a:xfrm>
          <a:prstGeom prst="roundRect">
            <a:avLst>
              <a:gd name="adj" fmla="val 19048"/>
            </a:avLst>
          </a:prstGeom>
          <a:solidFill>
            <a:srgbClr val="EAF2EA"/>
          </a:solidFill>
          <a:ln w="12700">
            <a:solidFill>
              <a:srgbClr val="D9E4D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240280" y="5394960"/>
            <a:ext cx="7726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83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composite: equal-weight average of available module scores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3063240" y="6053328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94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joined ground truth → no measured composite accuracy.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5706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47472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236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DISEASE DETECTION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58368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83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Field adaptation improved the PlantDoc benchmark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621792" y="1243584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526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252-image field test was used to compare the original checkpoint with the adapted candidate.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331720"/>
            <a:ext cx="1746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83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checkpoint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88920" y="2354580"/>
            <a:ext cx="2971800" cy="219456"/>
          </a:xfrm>
          <a:prstGeom prst="roundRect">
            <a:avLst>
              <a:gd name="adj" fmla="val 41667"/>
            </a:avLst>
          </a:prstGeom>
          <a:solidFill>
            <a:srgbClr val="E3EAE4"/>
          </a:solidFill>
          <a:ln w="12700">
            <a:solidFill>
              <a:srgbClr val="E3EAE4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88920" y="2354580"/>
            <a:ext cx="1313960" cy="219456"/>
          </a:xfrm>
          <a:prstGeom prst="roundRect">
            <a:avLst>
              <a:gd name="adj" fmla="val 41667"/>
            </a:avLst>
          </a:prstGeom>
          <a:solidFill>
            <a:srgbClr val="5E8BA5"/>
          </a:solidFill>
          <a:ln w="12700">
            <a:solidFill>
              <a:srgbClr val="236B4D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870448" y="233172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36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30.95%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136392"/>
            <a:ext cx="1746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83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Adapted candidate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88920" y="3159252"/>
            <a:ext cx="2971800" cy="219456"/>
          </a:xfrm>
          <a:prstGeom prst="roundRect">
            <a:avLst>
              <a:gd name="adj" fmla="val 41667"/>
            </a:avLst>
          </a:prstGeom>
          <a:solidFill>
            <a:srgbClr val="E3EAE4"/>
          </a:solidFill>
          <a:ln w="12700">
            <a:solidFill>
              <a:srgbClr val="E3EAE4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88920" y="3159252"/>
            <a:ext cx="2375317" cy="219456"/>
          </a:xfrm>
          <a:prstGeom prst="roundRect">
            <a:avLst>
              <a:gd name="adj" fmla="val 41667"/>
            </a:avLst>
          </a:prstGeom>
          <a:solidFill>
            <a:srgbClr val="236B4D"/>
          </a:solidFill>
          <a:ln w="12700">
            <a:solidFill>
              <a:srgbClr val="236B4D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870448" y="3136392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36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55.95%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187452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26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PlantDoc test accuracy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178040" y="1938528"/>
            <a:ext cx="1920240" cy="868680"/>
          </a:xfrm>
          <a:prstGeom prst="roundRect">
            <a:avLst>
              <a:gd name="adj" fmla="val 16842"/>
            </a:avLst>
          </a:prstGeom>
          <a:solidFill>
            <a:srgbClr val="FFFFFF"/>
          </a:solidFill>
          <a:ln w="12700">
            <a:solidFill>
              <a:srgbClr val="D9E4D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42632" y="2039112"/>
            <a:ext cx="1591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36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141 / 252</a:t>
            </a:r>
            <a:endParaRPr lang="en-US" sz="2500" dirty="0"/>
          </a:p>
        </p:txBody>
      </p:sp>
      <p:sp>
        <p:nvSpPr>
          <p:cNvPr id="16" name="Text 14"/>
          <p:cNvSpPr txBox="1"/>
          <p:nvPr/>
        </p:nvSpPr>
        <p:spPr>
          <a:xfrm>
            <a:off x="7342632" y="2478024"/>
            <a:ext cx="1591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26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adapted correct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308592" y="1938528"/>
            <a:ext cx="1920240" cy="868680"/>
          </a:xfrm>
          <a:prstGeom prst="roundRect">
            <a:avLst>
              <a:gd name="adj" fmla="val 16842"/>
            </a:avLst>
          </a:prstGeom>
          <a:solidFill>
            <a:srgbClr val="FFFFFF"/>
          </a:solidFill>
          <a:ln w="12700">
            <a:solidFill>
              <a:srgbClr val="D9E4D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473184" y="2039112"/>
            <a:ext cx="1591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36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0.552</a:t>
            </a:r>
            <a:endParaRPr lang="en-US" sz="2500" dirty="0"/>
          </a:p>
        </p:txBody>
      </p:sp>
      <p:sp>
        <p:nvSpPr>
          <p:cNvPr id="19" name="Text 17"/>
          <p:cNvSpPr txBox="1"/>
          <p:nvPr/>
        </p:nvSpPr>
        <p:spPr>
          <a:xfrm>
            <a:off x="9473184" y="2478024"/>
            <a:ext cx="1591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26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F1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178040" y="3063240"/>
            <a:ext cx="4050792" cy="1481328"/>
          </a:xfrm>
          <a:prstGeom prst="roundRect">
            <a:avLst>
              <a:gd name="adj" fmla="val 9877"/>
            </a:avLst>
          </a:prstGeom>
          <a:solidFill>
            <a:srgbClr val="FFF7E7"/>
          </a:solidFill>
          <a:ln w="12700">
            <a:solidFill>
              <a:srgbClr val="EDE2C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424928" y="327355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7D5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 to state clearly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424928" y="3675888"/>
            <a:ext cx="35021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83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PlantVillage validation fell from 98.10% to 96.83%. A small Tomato Late Blight group also lost recall.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868680" y="5394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26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PlantDoc test  n = 252  •  PlantVillage validation  n = 8,145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868680" y="57607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83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Interpretation: stronger cross-domain result, with a lab-domain and class-level cost.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5706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47472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236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CANOPY STRESS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58368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83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Grouped field testing exposed the healthy-class weakness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621792" y="1243584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526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 and NIR pixels → NDVI → six summary statistics → three-class Random Forest.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847088"/>
            <a:ext cx="2240280" cy="118872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D9E4D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2075688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83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 + NIR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48716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526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paired tile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127248" y="2276856"/>
            <a:ext cx="320040" cy="310896"/>
          </a:xfrm>
          <a:prstGeom prst="chevron">
            <a:avLst/>
          </a:prstGeom>
          <a:solidFill>
            <a:srgbClr val="BCCDC0"/>
          </a:solidFill>
          <a:ln w="12700">
            <a:solidFill>
              <a:srgbClr val="BCCDC0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84448" y="1847088"/>
            <a:ext cx="2240280" cy="118872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D9E4D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721608" y="2075688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83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NDVI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721608" y="248716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526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pixel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980176" y="2276856"/>
            <a:ext cx="320040" cy="310896"/>
          </a:xfrm>
          <a:prstGeom prst="chevron">
            <a:avLst/>
          </a:prstGeom>
          <a:solidFill>
            <a:srgbClr val="BCCDC0"/>
          </a:solidFill>
          <a:ln w="12700">
            <a:solidFill>
              <a:srgbClr val="BCCDC0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37376" y="1847088"/>
            <a:ext cx="2240280" cy="1188720"/>
          </a:xfrm>
          <a:prstGeom prst="roundRect">
            <a:avLst>
              <a:gd name="adj" fmla="val 12308"/>
            </a:avLst>
          </a:prstGeom>
          <a:solidFill>
            <a:srgbClr val="EAF2EA"/>
          </a:solidFill>
          <a:ln w="12700">
            <a:solidFill>
              <a:srgbClr val="D9E4D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74536" y="2075688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83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features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574536" y="248716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526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• std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26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• max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26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p25 • p75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833104" y="2276856"/>
            <a:ext cx="320040" cy="310896"/>
          </a:xfrm>
          <a:prstGeom prst="chevron">
            <a:avLst/>
          </a:prstGeom>
          <a:solidFill>
            <a:srgbClr val="BCCDC0"/>
          </a:solidFill>
          <a:ln w="12700">
            <a:solidFill>
              <a:srgbClr val="BCCDC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290304" y="1847088"/>
            <a:ext cx="2240280" cy="118872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D9E4D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427464" y="2075688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83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9427464" y="248716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526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classes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49808" y="3456432"/>
            <a:ext cx="2194560" cy="868680"/>
          </a:xfrm>
          <a:prstGeom prst="roundRect">
            <a:avLst>
              <a:gd name="adj" fmla="val 16842"/>
            </a:avLst>
          </a:prstGeom>
          <a:solidFill>
            <a:srgbClr val="FFFFFF"/>
          </a:solidFill>
          <a:ln w="12700">
            <a:solidFill>
              <a:srgbClr val="D9E4D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14400" y="3557016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36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58.42%</a:t>
            </a:r>
            <a:endParaRPr lang="en-US" sz="2500" dirty="0"/>
          </a:p>
        </p:txBody>
      </p:sp>
      <p:sp>
        <p:nvSpPr>
          <p:cNvPr id="22" name="Text 20"/>
          <p:cNvSpPr txBox="1"/>
          <p:nvPr/>
        </p:nvSpPr>
        <p:spPr>
          <a:xfrm>
            <a:off x="914400" y="3995928"/>
            <a:ext cx="1865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26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grouped test accuracy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182112" y="3456432"/>
            <a:ext cx="2194560" cy="868680"/>
          </a:xfrm>
          <a:prstGeom prst="roundRect">
            <a:avLst>
              <a:gd name="adj" fmla="val 16842"/>
            </a:avLst>
          </a:prstGeom>
          <a:solidFill>
            <a:srgbClr val="FFFFFF"/>
          </a:solidFill>
          <a:ln w="12700">
            <a:solidFill>
              <a:srgbClr val="D9E4D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346704" y="3557016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36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0.474</a:t>
            </a:r>
            <a:endParaRPr lang="en-US" sz="2500" dirty="0"/>
          </a:p>
        </p:txBody>
      </p:sp>
      <p:sp>
        <p:nvSpPr>
          <p:cNvPr id="25" name="Text 23"/>
          <p:cNvSpPr txBox="1"/>
          <p:nvPr/>
        </p:nvSpPr>
        <p:spPr>
          <a:xfrm>
            <a:off x="3346704" y="3995928"/>
            <a:ext cx="1865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26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F1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614416" y="3456432"/>
            <a:ext cx="2194560" cy="868680"/>
          </a:xfrm>
          <a:prstGeom prst="roundRect">
            <a:avLst>
              <a:gd name="adj" fmla="val 16842"/>
            </a:avLst>
          </a:prstGeom>
          <a:solidFill>
            <a:srgbClr val="FFFFFF"/>
          </a:solidFill>
          <a:ln w="12700">
            <a:solidFill>
              <a:srgbClr val="D9E4DC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779008" y="3557016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36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280</a:t>
            </a:r>
            <a:endParaRPr lang="en-US" sz="2500" dirty="0"/>
          </a:p>
        </p:txBody>
      </p:sp>
      <p:sp>
        <p:nvSpPr>
          <p:cNvPr id="28" name="Text 26"/>
          <p:cNvSpPr txBox="1"/>
          <p:nvPr/>
        </p:nvSpPr>
        <p:spPr>
          <a:xfrm>
            <a:off x="5779008" y="3995928"/>
            <a:ext cx="1865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26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recall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138160" y="3456432"/>
            <a:ext cx="3246120" cy="1042416"/>
          </a:xfrm>
          <a:prstGeom prst="roundRect">
            <a:avLst>
              <a:gd name="adj" fmla="val 14035"/>
            </a:avLst>
          </a:prstGeom>
          <a:solidFill>
            <a:srgbClr val="FCEDEC"/>
          </a:solidFill>
          <a:ln w="12700">
            <a:solidFill>
              <a:srgbClr val="EED6D4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366760" y="3611880"/>
            <a:ext cx="14173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B94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 / 700</a:t>
            </a:r>
            <a:endParaRPr lang="en-US" sz="2400" dirty="0"/>
          </a:p>
        </p:txBody>
      </p:sp>
      <p:sp>
        <p:nvSpPr>
          <p:cNvPr id="31" name="Text 29"/>
          <p:cNvSpPr txBox="1"/>
          <p:nvPr/>
        </p:nvSpPr>
        <p:spPr>
          <a:xfrm>
            <a:off x="8366760" y="405079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83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 tiles predicted healthy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822960" y="4965192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26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1,549 held-out tiles  •  split by inferred field ID  •  deployed older model retained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822960" y="5413248"/>
            <a:ext cx="10515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83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threshold candidate raised healthy recall but also raised dangerous severe → healthy errors (74 → 81); rejected.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5706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47472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236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PEST RISK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58368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83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LSTM beats persistence; logistic regression is stronger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621792" y="1243584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526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time-separated, retrospective evaluation on 19 observed target weeks.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1773936"/>
            <a:ext cx="5120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26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test accuracy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212848"/>
            <a:ext cx="1792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83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Majority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88920" y="2235708"/>
            <a:ext cx="3337560" cy="219456"/>
          </a:xfrm>
          <a:prstGeom prst="roundRect">
            <a:avLst>
              <a:gd name="adj" fmla="val 41667"/>
            </a:avLst>
          </a:prstGeom>
          <a:solidFill>
            <a:srgbClr val="E3EAE4"/>
          </a:solidFill>
          <a:ln w="12700">
            <a:solidFill>
              <a:srgbClr val="E3EAE4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88920" y="2235708"/>
            <a:ext cx="1536946" cy="219456"/>
          </a:xfrm>
          <a:prstGeom prst="roundRect">
            <a:avLst>
              <a:gd name="adj" fmla="val 41667"/>
            </a:avLst>
          </a:prstGeom>
          <a:solidFill>
            <a:srgbClr val="5E8BA5"/>
          </a:solidFill>
          <a:ln w="12700">
            <a:solidFill>
              <a:srgbClr val="236B4D">
                <a:alpha val="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236208" y="2212848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36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36.84%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2926080"/>
            <a:ext cx="1792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83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88920" y="2948940"/>
            <a:ext cx="3337560" cy="219456"/>
          </a:xfrm>
          <a:prstGeom prst="roundRect">
            <a:avLst>
              <a:gd name="adj" fmla="val 41667"/>
            </a:avLst>
          </a:prstGeom>
          <a:solidFill>
            <a:srgbClr val="E3EAE4"/>
          </a:solidFill>
          <a:ln w="12700">
            <a:solidFill>
              <a:srgbClr val="E3EAE4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88920" y="2948940"/>
            <a:ext cx="1756808" cy="219456"/>
          </a:xfrm>
          <a:prstGeom prst="roundRect">
            <a:avLst>
              <a:gd name="adj" fmla="val 41667"/>
            </a:avLst>
          </a:prstGeom>
          <a:solidFill>
            <a:srgbClr val="5E8BA5"/>
          </a:solidFill>
          <a:ln w="12700">
            <a:solidFill>
              <a:srgbClr val="236B4D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36208" y="292608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36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42.11%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68680" y="3639312"/>
            <a:ext cx="1792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83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88920" y="3662172"/>
            <a:ext cx="3337560" cy="219456"/>
          </a:xfrm>
          <a:prstGeom prst="roundRect">
            <a:avLst>
              <a:gd name="adj" fmla="val 41667"/>
            </a:avLst>
          </a:prstGeom>
          <a:solidFill>
            <a:srgbClr val="E3EAE4"/>
          </a:solidFill>
          <a:ln w="12700">
            <a:solidFill>
              <a:srgbClr val="E3EAE4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88920" y="3662172"/>
            <a:ext cx="2195697" cy="219456"/>
          </a:xfrm>
          <a:prstGeom prst="roundRect">
            <a:avLst>
              <a:gd name="adj" fmla="val 41667"/>
            </a:avLst>
          </a:prstGeom>
          <a:solidFill>
            <a:srgbClr val="236B4D"/>
          </a:solidFill>
          <a:ln w="12700">
            <a:solidFill>
              <a:srgbClr val="236B4D">
                <a:alpha val="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36208" y="3639312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36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52.63%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68680" y="4352544"/>
            <a:ext cx="1792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83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788920" y="4375404"/>
            <a:ext cx="3337560" cy="219456"/>
          </a:xfrm>
          <a:prstGeom prst="roundRect">
            <a:avLst>
              <a:gd name="adj" fmla="val 41667"/>
            </a:avLst>
          </a:prstGeom>
          <a:solidFill>
            <a:srgbClr val="E3EAE4"/>
          </a:solidFill>
          <a:ln w="12700">
            <a:solidFill>
              <a:srgbClr val="E3EAE4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88920" y="4375404"/>
            <a:ext cx="2854448" cy="219456"/>
          </a:xfrm>
          <a:prstGeom prst="roundRect">
            <a:avLst>
              <a:gd name="adj" fmla="val 41667"/>
            </a:avLst>
          </a:prstGeom>
          <a:solidFill>
            <a:srgbClr val="E0A331"/>
          </a:solidFill>
          <a:ln w="12700">
            <a:solidFill>
              <a:srgbClr val="236B4D">
                <a:alpha val="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236208" y="4352544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36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68.42%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955280" y="1883664"/>
            <a:ext cx="3200400" cy="868680"/>
          </a:xfrm>
          <a:prstGeom prst="roundRect">
            <a:avLst>
              <a:gd name="adj" fmla="val 16842"/>
            </a:avLst>
          </a:prstGeom>
          <a:solidFill>
            <a:srgbClr val="FFFFFF"/>
          </a:solidFill>
          <a:ln w="12700">
            <a:solidFill>
              <a:srgbClr val="D9E4D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119872" y="1984248"/>
            <a:ext cx="2871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36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19</a:t>
            </a:r>
            <a:endParaRPr lang="en-US" sz="2500" dirty="0"/>
          </a:p>
        </p:txBody>
      </p:sp>
      <p:sp>
        <p:nvSpPr>
          <p:cNvPr id="24" name="Text 22"/>
          <p:cNvSpPr txBox="1"/>
          <p:nvPr/>
        </p:nvSpPr>
        <p:spPr>
          <a:xfrm>
            <a:off x="8119872" y="2423160"/>
            <a:ext cx="2871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26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correct • 52.63%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955280" y="2999232"/>
            <a:ext cx="3200400" cy="1152144"/>
          </a:xfrm>
          <a:prstGeom prst="roundRect">
            <a:avLst>
              <a:gd name="adj" fmla="val 12698"/>
            </a:avLst>
          </a:prstGeom>
          <a:solidFill>
            <a:srgbClr val="EAF2EA"/>
          </a:solidFill>
          <a:ln w="12700">
            <a:solidFill>
              <a:srgbClr val="D9E4D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193024" y="3145536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36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0.433</a:t>
            </a:r>
            <a:endParaRPr lang="en-US" sz="2700" dirty="0"/>
          </a:p>
        </p:txBody>
      </p:sp>
      <p:sp>
        <p:nvSpPr>
          <p:cNvPr id="27" name="Text 25"/>
          <p:cNvSpPr txBox="1"/>
          <p:nvPr/>
        </p:nvSpPr>
        <p:spPr>
          <a:xfrm>
            <a:off x="8193024" y="363016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26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macro F1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868680" y="5532120"/>
            <a:ext cx="7772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83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2005–07  →  validate 2008  →  test 2009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868680" y="5870448"/>
            <a:ext cx="8503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26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Four-week windows • observed targets only • one region • small test set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5706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47472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236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AND HONEST REPORTING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58368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83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kept the final test for measurement, not tuning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621792" y="1243584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526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audit notebook is executed and records enough detail to reproduce the comparison.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49808" y="1874520"/>
            <a:ext cx="3383280" cy="932688"/>
          </a:xfrm>
          <a:prstGeom prst="roundRect">
            <a:avLst>
              <a:gd name="adj" fmla="val 15686"/>
            </a:avLst>
          </a:prstGeom>
          <a:solidFill>
            <a:srgbClr val="FFFFFF"/>
          </a:solidFill>
          <a:ln w="12700">
            <a:solidFill>
              <a:srgbClr val="D9E4D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202996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236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34086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83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provenance, exclusions, labels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44568" y="1874520"/>
            <a:ext cx="3383280" cy="932688"/>
          </a:xfrm>
          <a:prstGeom prst="roundRect">
            <a:avLst>
              <a:gd name="adj" fmla="val 15686"/>
            </a:avLst>
          </a:prstGeom>
          <a:solidFill>
            <a:srgbClr val="FFFFFF"/>
          </a:solidFill>
          <a:ln w="12700">
            <a:solidFill>
              <a:srgbClr val="D9E4D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709160" y="202996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236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4709160" y="234086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83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or time order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339328" y="1874520"/>
            <a:ext cx="3383280" cy="932688"/>
          </a:xfrm>
          <a:prstGeom prst="roundRect">
            <a:avLst>
              <a:gd name="adj" fmla="val 15686"/>
            </a:avLst>
          </a:prstGeom>
          <a:solidFill>
            <a:srgbClr val="FFFFFF"/>
          </a:solidFill>
          <a:ln w="12700">
            <a:solidFill>
              <a:srgbClr val="D9E4D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503920" y="202996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236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8503920" y="234086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83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configuration, environment, artifact hash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49808" y="3118104"/>
            <a:ext cx="3383280" cy="932688"/>
          </a:xfrm>
          <a:prstGeom prst="roundRect">
            <a:avLst>
              <a:gd name="adj" fmla="val 15686"/>
            </a:avLst>
          </a:prstGeom>
          <a:solidFill>
            <a:srgbClr val="FFFFFF"/>
          </a:solidFill>
          <a:ln w="12700">
            <a:solidFill>
              <a:srgbClr val="D9E4D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32735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236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914400" y="358444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83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precision, recall, F1, support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44568" y="3118104"/>
            <a:ext cx="3383280" cy="932688"/>
          </a:xfrm>
          <a:prstGeom prst="roundRect">
            <a:avLst>
              <a:gd name="adj" fmla="val 15686"/>
            </a:avLst>
          </a:prstGeom>
          <a:solidFill>
            <a:srgbClr val="FFFFFF"/>
          </a:solidFill>
          <a:ln w="12700">
            <a:solidFill>
              <a:srgbClr val="D9E4D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709160" y="32735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236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4709160" y="358444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83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counts + class report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339328" y="3118104"/>
            <a:ext cx="3383280" cy="932688"/>
          </a:xfrm>
          <a:prstGeom prst="roundRect">
            <a:avLst>
              <a:gd name="adj" fmla="val 15686"/>
            </a:avLst>
          </a:prstGeom>
          <a:solidFill>
            <a:srgbClr val="FFFFFF"/>
          </a:solidFill>
          <a:ln w="12700">
            <a:solidFill>
              <a:srgbClr val="D9E4D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503920" y="32735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236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8503920" y="358444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83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rule before final test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49808" y="4700016"/>
            <a:ext cx="10954512" cy="987552"/>
          </a:xfrm>
          <a:prstGeom prst="roundRect">
            <a:avLst>
              <a:gd name="adj" fmla="val 14815"/>
            </a:avLst>
          </a:prstGeom>
          <a:solidFill>
            <a:srgbClr val="EAF2EA"/>
          </a:solidFill>
          <a:ln w="12700">
            <a:solidFill>
              <a:srgbClr val="D9E4D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87552" y="4901184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36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 score is not an evaluated model metric.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5907024" y="4882896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83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common farm-level labels across the three source datasets.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804672" y="5989320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26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notebooks and detailed reports are linked in the project README and docs/MODEL_EVALUATION.md.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5706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47472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236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DEMONSTRATION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58368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83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the same portable app on the Windows 10 laptop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621792" y="1243584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526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3.12.2 is in scope; the app uses CPU TensorFlow on Windows.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86384" y="1874520"/>
            <a:ext cx="6446520" cy="621792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9E4D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78408" y="2039112"/>
            <a:ext cx="256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36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201168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83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2944368" y="20116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26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PlantVillage leaf → class + Grad-CAM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86384" y="2679192"/>
            <a:ext cx="6446520" cy="621792"/>
          </a:xfrm>
          <a:prstGeom prst="roundRect">
            <a:avLst>
              <a:gd name="adj" fmla="val 23529"/>
            </a:avLst>
          </a:prstGeom>
          <a:solidFill>
            <a:srgbClr val="EAF2EA"/>
          </a:solidFill>
          <a:ln w="12700">
            <a:solidFill>
              <a:srgbClr val="D9E4D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78408" y="2843784"/>
            <a:ext cx="256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36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281635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83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Canopy stress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944368" y="281635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26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paired RGB/NIR sample → NDVI heatmap + stats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86384" y="3483864"/>
            <a:ext cx="6446520" cy="621792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9E4D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78408" y="3648456"/>
            <a:ext cx="256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36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417320" y="3621024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83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Pest risk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2944368" y="362102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26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held-out four-week sequence → probabilities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86384" y="4288536"/>
            <a:ext cx="6446520" cy="621792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9E4D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78408" y="4453128"/>
            <a:ext cx="256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36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417320" y="442569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83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2944368" y="442569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26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illustrative score and explain its limits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626096" y="1874520"/>
            <a:ext cx="3566160" cy="2331720"/>
          </a:xfrm>
          <a:prstGeom prst="roundRect">
            <a:avLst>
              <a:gd name="adj" fmla="val 6275"/>
            </a:avLst>
          </a:prstGeom>
          <a:solidFill>
            <a:srgbClr val="FFFFFF"/>
          </a:solidFill>
          <a:ln w="12700">
            <a:solidFill>
              <a:srgbClr val="D9E4D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882128" y="2112264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83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 setup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7882128" y="2624328"/>
            <a:ext cx="2834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83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Clone monday-demo branch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83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Double-click setup_windows.cmd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83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Check environment report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83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Disconnect Wi-Fi; run start_windows.cmd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626096" y="4425696"/>
            <a:ext cx="3566160" cy="841248"/>
          </a:xfrm>
          <a:prstGeom prst="roundRect">
            <a:avLst>
              <a:gd name="adj" fmla="val 17391"/>
            </a:avLst>
          </a:prstGeom>
          <a:solidFill>
            <a:srgbClr val="FFF7E7"/>
          </a:solidFill>
          <a:ln w="12700">
            <a:solidFill>
              <a:srgbClr val="EDE2C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854696" y="461772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D5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 rehearsal is still required.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841248" y="566928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26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CI passed on Windows Server 2025; the Mac mini also passed. This does not replace the Win 10 laptop check.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5706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CropSense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CropSense AI | Monday Demonstration</dc:title>
  <dc:subject>Audited model results and Windows demonstration readiness</dc:subject>
  <dc:creator>CropSense AI Project Team</dc:creator>
  <cp:lastModifiedBy>CropSense AI Project Team</cp:lastModifiedBy>
  <cp:revision>1</cp:revision>
  <dcterms:created xsi:type="dcterms:W3CDTF">2026-10-11T01:51:12Z</dcterms:created>
  <dcterms:modified xsi:type="dcterms:W3CDTF">2026-10-11T01:51:12Z</dcterms:modified>
</cp:coreProperties>
</file>